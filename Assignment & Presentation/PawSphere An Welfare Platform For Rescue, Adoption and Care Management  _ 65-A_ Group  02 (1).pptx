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latsi" charset="1" panose="00000500000000000000"/>
      <p:regular r:id="rId33"/>
    </p:embeddedFont>
    <p:embeddedFont>
      <p:font typeface="Canva Sans" charset="1" panose="020B0503030501040103"/>
      <p:regular r:id="rId34"/>
    </p:embeddedFont>
    <p:embeddedFont>
      <p:font typeface="Abhaya Libre Bold" charset="1" panose="02000803000000000000"/>
      <p:regular r:id="rId35"/>
    </p:embeddedFont>
    <p:embeddedFont>
      <p:font typeface="Chewy" charset="1" panose="02000000000000000000"/>
      <p:regular r:id="rId36"/>
    </p:embeddedFont>
    <p:embeddedFont>
      <p:font typeface="Abhaya Libre Italics" charset="1" panose="02000503000000000000"/>
      <p:regular r:id="rId37"/>
    </p:embeddedFont>
    <p:embeddedFont>
      <p:font typeface="Canva Sans Bold" charset="1" panose="020B0803030501040103"/>
      <p:regular r:id="rId38"/>
    </p:embeddedFont>
    <p:embeddedFont>
      <p:font typeface="Abhaya Libre" charset="1" panose="02000503000000000000"/>
      <p:regular r:id="rId39"/>
    </p:embeddedFont>
    <p:embeddedFont>
      <p:font typeface="Canva Sans Bold Italics" charset="1" panose="020B0803030501040103"/>
      <p:regular r:id="rId40"/>
    </p:embeddedFont>
    <p:embeddedFont>
      <p:font typeface="Canva Sans Italics" charset="1" panose="020B0503030501040103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Relationship Id="rId5" Target="https://drive.google.com/file/d/1CxhA67QIxZU8sNOJGCbGOPA_a9N0x1uD/view?usp=sharing" TargetMode="External" Type="http://schemas.openxmlformats.org/officeDocument/2006/relationships/hyperlink"/><Relationship Id="rId6" Target="https://drive.google.com/file/d/1CxhA67QIxZU8sNOJGCbGOPA_a9N0x1uD/view?usp=sharing" TargetMode="External" Type="http://schemas.openxmlformats.org/officeDocument/2006/relationships/hyperlink"/><Relationship Id="rId7" Target="https://drive.google.com/file/d/1CxhA67QIxZU8sNOJGCbGOPA_a9N0x1uD/view?usp=sharing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https://drive.google.com/file/d/1aXO8uUUBWWgY5o62qrTc8N4aq1bktxuJ/view?usp=sharing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0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751650" y="5305063"/>
            <a:ext cx="12681645" cy="100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</a:pPr>
            <a:r>
              <a:rPr lang="en-US" sz="395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AN ANIMAL WELFARE PLATFORM FOR RESCUE, ADOPTION AND CARE MANAGEMENT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12890" y="8725001"/>
            <a:ext cx="11591608" cy="53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 | Spring 2026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70883" y="3551766"/>
            <a:ext cx="9657903" cy="119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4"/>
              </a:lnSpc>
            </a:pPr>
            <a:r>
              <a:rPr lang="en-US" sz="915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PAWSPHERE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65_A, GROUP-02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96358" y="8781232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 | 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90722" y="3102810"/>
            <a:ext cx="7362681" cy="4628769"/>
            <a:chOff x="0" y="0"/>
            <a:chExt cx="1939142" cy="1219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142" cy="1219100"/>
            </a:xfrm>
            <a:custGeom>
              <a:avLst/>
              <a:gdLst/>
              <a:ahLst/>
              <a:cxnLst/>
              <a:rect r="r" b="b" t="t" l="l"/>
              <a:pathLst>
                <a:path h="1219100" w="1939142">
                  <a:moveTo>
                    <a:pt x="53627" y="0"/>
                  </a:moveTo>
                  <a:lnTo>
                    <a:pt x="1885515" y="0"/>
                  </a:lnTo>
                  <a:cubicBezTo>
                    <a:pt x="1915133" y="0"/>
                    <a:pt x="1939142" y="24010"/>
                    <a:pt x="1939142" y="53627"/>
                  </a:cubicBezTo>
                  <a:lnTo>
                    <a:pt x="1939142" y="1165473"/>
                  </a:lnTo>
                  <a:cubicBezTo>
                    <a:pt x="1939142" y="1179696"/>
                    <a:pt x="1933492" y="1193336"/>
                    <a:pt x="1923435" y="1203393"/>
                  </a:cubicBezTo>
                  <a:cubicBezTo>
                    <a:pt x="1913378" y="1213450"/>
                    <a:pt x="1899738" y="1219100"/>
                    <a:pt x="1885515" y="1219100"/>
                  </a:cubicBezTo>
                  <a:lnTo>
                    <a:pt x="53627" y="1219100"/>
                  </a:lnTo>
                  <a:cubicBezTo>
                    <a:pt x="24010" y="1219100"/>
                    <a:pt x="0" y="1195090"/>
                    <a:pt x="0" y="1165473"/>
                  </a:cubicBezTo>
                  <a:lnTo>
                    <a:pt x="0" y="53627"/>
                  </a:lnTo>
                  <a:cubicBezTo>
                    <a:pt x="0" y="39404"/>
                    <a:pt x="5650" y="25764"/>
                    <a:pt x="15707" y="15707"/>
                  </a:cubicBezTo>
                  <a:cubicBezTo>
                    <a:pt x="25764" y="5650"/>
                    <a:pt x="39404" y="0"/>
                    <a:pt x="536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39142" cy="12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98145" y="4624464"/>
            <a:ext cx="702612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Dr. Abdus Sattar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Associate Professor &amp; Director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Department of CSE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417488" y="614217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534597" y="3102810"/>
            <a:ext cx="7540491" cy="4628769"/>
            <a:chOff x="0" y="0"/>
            <a:chExt cx="1985973" cy="12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5973" cy="1219100"/>
            </a:xfrm>
            <a:custGeom>
              <a:avLst/>
              <a:gdLst/>
              <a:ahLst/>
              <a:cxnLst/>
              <a:rect r="r" b="b" t="t" l="l"/>
              <a:pathLst>
                <a:path h="1219100" w="1985973">
                  <a:moveTo>
                    <a:pt x="52362" y="0"/>
                  </a:moveTo>
                  <a:lnTo>
                    <a:pt x="1933610" y="0"/>
                  </a:lnTo>
                  <a:cubicBezTo>
                    <a:pt x="1947498" y="0"/>
                    <a:pt x="1960816" y="5517"/>
                    <a:pt x="1970636" y="15337"/>
                  </a:cubicBezTo>
                  <a:cubicBezTo>
                    <a:pt x="1980456" y="25156"/>
                    <a:pt x="1985973" y="38475"/>
                    <a:pt x="1985973" y="52362"/>
                  </a:cubicBezTo>
                  <a:lnTo>
                    <a:pt x="1985973" y="1166737"/>
                  </a:lnTo>
                  <a:cubicBezTo>
                    <a:pt x="1985973" y="1195656"/>
                    <a:pt x="1962529" y="1219100"/>
                    <a:pt x="1933610" y="1219100"/>
                  </a:cubicBezTo>
                  <a:lnTo>
                    <a:pt x="52362" y="1219100"/>
                  </a:lnTo>
                  <a:cubicBezTo>
                    <a:pt x="23443" y="1219100"/>
                    <a:pt x="0" y="1195656"/>
                    <a:pt x="0" y="1166737"/>
                  </a:cubicBezTo>
                  <a:lnTo>
                    <a:pt x="0" y="52362"/>
                  </a:lnTo>
                  <a:cubicBezTo>
                    <a:pt x="0" y="23443"/>
                    <a:pt x="23443" y="0"/>
                    <a:pt x="5236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5973" cy="12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39665" y="3615357"/>
            <a:ext cx="516960" cy="51696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44736" y="3615357"/>
            <a:ext cx="516960" cy="51696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-1072730" y="9051742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306523" y="904221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-2243137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79902" y="3486487"/>
            <a:ext cx="3878232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79969" y="3971393"/>
            <a:ext cx="7218734" cy="315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Shisita Sarkar Setu (232-15-762)</a:t>
            </a: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Shafin Ahmed (232-15-184)</a:t>
            </a: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Sakib Ahmed (232-15-085)</a:t>
            </a:r>
          </a:p>
          <a:p>
            <a:pPr algn="l">
              <a:lnSpc>
                <a:spcPts val="5061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639349" y="3486487"/>
            <a:ext cx="3878232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By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2245" y="621654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TOPICS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2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-5400000">
            <a:off x="-2373736" y="491109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 | 2026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1085850" y="8268394"/>
            <a:ext cx="5403" cy="2997456"/>
          </a:xfrm>
          <a:prstGeom prst="line">
            <a:avLst/>
          </a:prstGeom>
          <a:ln cap="flat" w="114300">
            <a:solidFill>
              <a:srgbClr val="1993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085850" y="-924826"/>
            <a:ext cx="5403" cy="2997456"/>
          </a:xfrm>
          <a:prstGeom prst="line">
            <a:avLst/>
          </a:prstGeom>
          <a:ln cap="flat" w="114300">
            <a:solidFill>
              <a:srgbClr val="1993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613363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9728" y="2675660"/>
            <a:ext cx="13831526" cy="596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1" indent="-334646" lvl="1">
              <a:lnSpc>
                <a:spcPts val="4340"/>
              </a:lnSpc>
              <a:spcBef>
                <a:spcPct val="0"/>
              </a:spcBef>
              <a:buAutoNum type="arabicPeriod" startAt="1"/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Story (Description) </a:t>
            </a:r>
          </a:p>
          <a:p>
            <a:pPr algn="l" marL="669291" indent="-334646" lvl="1">
              <a:lnSpc>
                <a:spcPts val="4340"/>
              </a:lnSpc>
              <a:spcBef>
                <a:spcPct val="0"/>
              </a:spcBef>
              <a:buAutoNum type="arabicPeriod" startAt="1"/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Introduction</a:t>
            </a:r>
          </a:p>
          <a:p>
            <a:pPr algn="l" marL="669291" indent="-334646" lvl="1">
              <a:lnSpc>
                <a:spcPts val="4340"/>
              </a:lnSpc>
              <a:spcBef>
                <a:spcPct val="0"/>
              </a:spcBef>
              <a:buAutoNum type="arabicPeriod" startAt="1"/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Objectives  </a:t>
            </a:r>
          </a:p>
          <a:p>
            <a:pPr algn="l" marL="669291" indent="-334646" lvl="1">
              <a:lnSpc>
                <a:spcPts val="4340"/>
              </a:lnSpc>
              <a:spcBef>
                <a:spcPct val="0"/>
              </a:spcBef>
              <a:buAutoNum type="arabicPeriod" startAt="1"/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Related Works</a:t>
            </a:r>
          </a:p>
          <a:p>
            <a:pPr algn="l" marL="669291" indent="-334646" lvl="1">
              <a:lnSpc>
                <a:spcPts val="4340"/>
              </a:lnSpc>
              <a:spcBef>
                <a:spcPct val="0"/>
              </a:spcBef>
              <a:buAutoNum type="arabicPeriod" startAt="1"/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Software Requirements Specification</a:t>
            </a:r>
          </a:p>
          <a:p>
            <a:pPr algn="just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           a.  Model Selection </a:t>
            </a:r>
          </a:p>
          <a:p>
            <a:pPr algn="just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           b. Functional &amp; Non-Functional Requirements</a:t>
            </a:r>
          </a:p>
          <a:p>
            <a:pPr algn="just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           c.  Use Case Diagram</a:t>
            </a:r>
          </a:p>
          <a:p>
            <a:pPr algn="just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           d. Use Case Description</a:t>
            </a:r>
          </a:p>
          <a:p>
            <a:pPr algn="just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           e. Activity Diagram</a:t>
            </a:r>
          </a:p>
          <a:p>
            <a:pPr algn="just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8806" y="4361584"/>
            <a:ext cx="9097132" cy="433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339"/>
              </a:lnSpc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Graphical User Interface (Hi-Fi or Low-Fi) </a:t>
            </a:r>
          </a:p>
          <a:p>
            <a:pPr algn="l" marL="669288" indent="-334644" lvl="1">
              <a:lnSpc>
                <a:spcPts val="4339"/>
              </a:lnSpc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Project Estimation and Planning</a:t>
            </a:r>
          </a:p>
          <a:p>
            <a:pPr algn="l" marL="669288" indent="-334644" lvl="1">
              <a:lnSpc>
                <a:spcPts val="4339"/>
              </a:lnSpc>
              <a:spcBef>
                <a:spcPct val="0"/>
              </a:spcBef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Hardware and S</a:t>
            </a: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oftware Requirements </a:t>
            </a:r>
          </a:p>
          <a:p>
            <a:pPr algn="l" marL="669288" indent="-334644" lvl="1">
              <a:lnSpc>
                <a:spcPts val="4339"/>
              </a:lnSpc>
              <a:spcBef>
                <a:spcPct val="0"/>
              </a:spcBef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Ethical, Legal, and Security Issues </a:t>
            </a:r>
          </a:p>
          <a:p>
            <a:pPr algn="l" marL="669288" indent="-334644" lvl="1">
              <a:lnSpc>
                <a:spcPts val="4339"/>
              </a:lnSpc>
              <a:spcBef>
                <a:spcPct val="0"/>
              </a:spcBef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Limitations and Challenges </a:t>
            </a:r>
          </a:p>
          <a:p>
            <a:pPr algn="l" marL="669288" indent="-334644" lvl="1">
              <a:lnSpc>
                <a:spcPts val="4339"/>
              </a:lnSpc>
              <a:spcBef>
                <a:spcPct val="0"/>
              </a:spcBef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Team Collaboration and Time Management</a:t>
            </a:r>
          </a:p>
          <a:p>
            <a:pPr algn="l" marL="669288" indent="-334644" lvl="1">
              <a:lnSpc>
                <a:spcPts val="4339"/>
              </a:lnSpc>
              <a:spcBef>
                <a:spcPct val="0"/>
              </a:spcBef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Acknowledgement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127976" y="3056944"/>
            <a:ext cx="3939778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       f. Seq</a:t>
            </a: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uence Diagram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g. Class Diagram 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0078806" y="3123619"/>
            <a:ext cx="0" cy="5569300"/>
          </a:xfrm>
          <a:prstGeom prst="line">
            <a:avLst/>
          </a:prstGeom>
          <a:ln cap="flat" w="76200">
            <a:solidFill>
              <a:srgbClr val="246FC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539405"/>
            <a:ext cx="6533631" cy="4978005"/>
          </a:xfrm>
          <a:custGeom>
            <a:avLst/>
            <a:gdLst/>
            <a:ahLst/>
            <a:cxnLst/>
            <a:rect r="r" b="b" t="t" l="l"/>
            <a:pathLst>
              <a:path h="4978005" w="6533631">
                <a:moveTo>
                  <a:pt x="0" y="0"/>
                </a:moveTo>
                <a:lnTo>
                  <a:pt x="6533631" y="0"/>
                </a:lnTo>
                <a:lnTo>
                  <a:pt x="6533631" y="4978005"/>
                </a:lnTo>
                <a:lnTo>
                  <a:pt x="0" y="4978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40705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9826" y="434121"/>
            <a:ext cx="14834810" cy="137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sz="7997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WHAT IS PAWSPHERE?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7322" y="3894915"/>
            <a:ext cx="9860092" cy="525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Animal Welfare Platform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Rescue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Adoption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Veterinary Care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Community Network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👉 All-in-one system</a:t>
            </a:r>
          </a:p>
          <a:p>
            <a:pPr algn="l">
              <a:lnSpc>
                <a:spcPts val="5218"/>
              </a:lnSpc>
            </a:pPr>
          </a:p>
          <a:p>
            <a:pPr algn="ctr">
              <a:lnSpc>
                <a:spcPts val="521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63240" y="2967855"/>
            <a:ext cx="6871119" cy="3698336"/>
          </a:xfrm>
          <a:custGeom>
            <a:avLst/>
            <a:gdLst/>
            <a:ahLst/>
            <a:cxnLst/>
            <a:rect r="r" b="b" t="t" l="l"/>
            <a:pathLst>
              <a:path h="3698336" w="6871119">
                <a:moveTo>
                  <a:pt x="0" y="0"/>
                </a:moveTo>
                <a:lnTo>
                  <a:pt x="6871119" y="0"/>
                </a:lnTo>
                <a:lnTo>
                  <a:pt x="6871119" y="3698336"/>
                </a:lnTo>
                <a:lnTo>
                  <a:pt x="0" y="3698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333762" y="944258"/>
            <a:ext cx="17124328" cy="142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4"/>
              </a:lnSpc>
            </a:pPr>
            <a:r>
              <a:rPr lang="en-US" sz="8267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WHY IS IT NEEDED?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5324" y="3382358"/>
            <a:ext cx="9703519" cy="553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5828" indent="-422914" lvl="1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Injured stray animals</a:t>
            </a:r>
          </a:p>
          <a:p>
            <a:pPr algn="l" marL="845828" indent="-422914" lvl="1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 quick response system</a:t>
            </a:r>
          </a:p>
          <a:p>
            <a:pPr algn="l" marL="845828" indent="-422914" lvl="1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Lack of coordination</a:t>
            </a:r>
          </a:p>
          <a:p>
            <a:pPr algn="l" marL="845828" indent="-422914" lvl="1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People don’t know how to help</a:t>
            </a:r>
          </a:p>
          <a:p>
            <a:pPr algn="l">
              <a:lnSpc>
                <a:spcPts val="5484"/>
              </a:lnSpc>
            </a:pP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👉 Problem = No unified platform</a:t>
            </a:r>
          </a:p>
          <a:p>
            <a:pPr algn="ctr">
              <a:lnSpc>
                <a:spcPts val="5484"/>
              </a:lnSpc>
            </a:pPr>
          </a:p>
          <a:p>
            <a:pPr algn="ctr">
              <a:lnSpc>
                <a:spcPts val="548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8473" y="3819547"/>
            <a:ext cx="12663797" cy="544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Centralized platform</a:t>
            </a:r>
          </a:p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Real-time rescue system</a:t>
            </a:r>
          </a:p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Smart map tracking</a:t>
            </a:r>
          </a:p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AI-based support (simulated)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👉 Fast + Connected + Smart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8473" y="1134152"/>
            <a:ext cx="13358301" cy="137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Why Our Approach?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2823" y="3457179"/>
            <a:ext cx="5229823" cy="3372641"/>
          </a:xfrm>
          <a:custGeom>
            <a:avLst/>
            <a:gdLst/>
            <a:ahLst/>
            <a:cxnLst/>
            <a:rect r="r" b="b" t="t" l="l"/>
            <a:pathLst>
              <a:path h="3372641" w="5229823">
                <a:moveTo>
                  <a:pt x="0" y="0"/>
                </a:moveTo>
                <a:lnTo>
                  <a:pt x="5229823" y="0"/>
                </a:lnTo>
                <a:lnTo>
                  <a:pt x="5229823" y="3372642"/>
                </a:lnTo>
                <a:lnTo>
                  <a:pt x="0" y="3372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85618" y="1129426"/>
            <a:ext cx="7183755" cy="158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Impact &amp;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5489" y="3449378"/>
            <a:ext cx="8739783" cy="493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Faster rescue response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 successful adoptions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Strong volunteer network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b="true" sz="4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Vision:</a:t>
            </a:r>
          </a:p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“Technology + Humanity”</a:t>
            </a:r>
          </a:p>
          <a:p>
            <a:pPr algn="ctr">
              <a:lnSpc>
                <a:spcPts val="658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96301" y="832103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62256"/>
            <a:ext cx="9474619" cy="589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9"/>
              </a:lnSpc>
            </a:pPr>
          </a:p>
          <a:p>
            <a:pPr algn="just" marL="695050" indent="-347525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systems are single-purpose and fragmented</a:t>
            </a:r>
          </a:p>
          <a:p>
            <a:pPr algn="just" marL="695050" indent="-347525" lvl="1">
              <a:lnSpc>
                <a:spcPts val="4507"/>
              </a:lnSpc>
              <a:buFont typeface="Arial"/>
              <a:buChar char="•"/>
            </a:pPr>
            <a:r>
              <a:rPr lang="en-US" b="true" sz="3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Petfind</a:t>
            </a:r>
            <a:r>
              <a:rPr lang="en-US" b="true" sz="3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</a:t>
            </a: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only adoption-focused</a:t>
            </a:r>
          </a:p>
          <a:p>
            <a:pPr algn="just" marL="695050" indent="-347525" lvl="1">
              <a:lnSpc>
                <a:spcPts val="4507"/>
              </a:lnSpc>
              <a:buFont typeface="Arial"/>
              <a:buChar char="•"/>
            </a:pPr>
            <a:r>
              <a:rPr lang="en-US" b="true" sz="3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PETA &amp; Animal Welfare Institute</a:t>
            </a: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awareness only</a:t>
            </a:r>
          </a:p>
          <a:p>
            <a:pPr algn="just" marL="695050" indent="-347525" lvl="1">
              <a:lnSpc>
                <a:spcPts val="4507"/>
              </a:lnSpc>
              <a:buFont typeface="Arial"/>
              <a:buChar char="•"/>
            </a:pPr>
            <a:r>
              <a:rPr lang="en-US" b="true" sz="3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ShelterLUV</a:t>
            </a: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shelter management only</a:t>
            </a:r>
          </a:p>
          <a:p>
            <a:pPr algn="just" marL="695050" indent="-347525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system supports real-time rescue + full ecosystem</a:t>
            </a:r>
          </a:p>
          <a:p>
            <a:pPr algn="just">
              <a:lnSpc>
                <a:spcPts val="4507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3531326" y="748766"/>
            <a:ext cx="10465632" cy="1899215"/>
            <a:chOff x="0" y="0"/>
            <a:chExt cx="13954177" cy="253228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300"/>
              <a:ext cx="13954177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Related Works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93871"/>
              <a:ext cx="10145426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767545" y="2056039"/>
            <a:ext cx="4259049" cy="3136904"/>
          </a:xfrm>
          <a:custGeom>
            <a:avLst/>
            <a:gdLst/>
            <a:ahLst/>
            <a:cxnLst/>
            <a:rect r="r" b="b" t="t" l="l"/>
            <a:pathLst>
              <a:path h="3136904" w="4259049">
                <a:moveTo>
                  <a:pt x="0" y="0"/>
                </a:moveTo>
                <a:lnTo>
                  <a:pt x="4259049" y="0"/>
                </a:lnTo>
                <a:lnTo>
                  <a:pt x="4259049" y="3136904"/>
                </a:lnTo>
                <a:lnTo>
                  <a:pt x="0" y="31369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8602" y="5758846"/>
            <a:ext cx="3421849" cy="3205276"/>
          </a:xfrm>
          <a:custGeom>
            <a:avLst/>
            <a:gdLst/>
            <a:ahLst/>
            <a:cxnLst/>
            <a:rect r="r" b="b" t="t" l="l"/>
            <a:pathLst>
              <a:path h="3205276" w="3421849">
                <a:moveTo>
                  <a:pt x="0" y="0"/>
                </a:moveTo>
                <a:lnTo>
                  <a:pt x="3421849" y="0"/>
                </a:lnTo>
                <a:lnTo>
                  <a:pt x="3421849" y="3205277"/>
                </a:lnTo>
                <a:lnTo>
                  <a:pt x="0" y="32052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63566" y="9482401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96301" y="832103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36010" y="2225198"/>
            <a:ext cx="9673976" cy="6518619"/>
          </a:xfrm>
          <a:custGeom>
            <a:avLst/>
            <a:gdLst/>
            <a:ahLst/>
            <a:cxnLst/>
            <a:rect r="r" b="b" t="t" l="l"/>
            <a:pathLst>
              <a:path h="6518619" w="9673976">
                <a:moveTo>
                  <a:pt x="0" y="0"/>
                </a:moveTo>
                <a:lnTo>
                  <a:pt x="9673977" y="0"/>
                </a:lnTo>
                <a:lnTo>
                  <a:pt x="9673977" y="6518618"/>
                </a:lnTo>
                <a:lnTo>
                  <a:pt x="0" y="6518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869" t="0" r="-556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1121" y="3605422"/>
            <a:ext cx="7344889" cy="445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4577" indent="-392288" lvl="1">
              <a:lnSpc>
                <a:spcPts val="5087"/>
              </a:lnSpc>
              <a:buFont typeface="Arial"/>
              <a:buChar char="•"/>
            </a:pP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</a:t>
            </a:r>
            <a:r>
              <a:rPr lang="en-US" b="true" sz="36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Agile (Scrum)</a:t>
            </a: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model</a:t>
            </a:r>
          </a:p>
          <a:p>
            <a:pPr algn="just" marL="784577" indent="-392288" lvl="1">
              <a:lnSpc>
                <a:spcPts val="5087"/>
              </a:lnSpc>
              <a:buFont typeface="Arial"/>
              <a:buChar char="•"/>
            </a:pP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Sprint-based development</a:t>
            </a:r>
          </a:p>
          <a:p>
            <a:pPr algn="just" marL="784577" indent="-392288" lvl="1">
              <a:lnSpc>
                <a:spcPts val="5087"/>
              </a:lnSpc>
              <a:buFont typeface="Arial"/>
              <a:buChar char="•"/>
            </a:pP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</a:t>
            </a: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ts modula</a:t>
            </a: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features</a:t>
            </a:r>
          </a:p>
          <a:p>
            <a:pPr algn="just" marL="784577" indent="-392288" lvl="1">
              <a:lnSpc>
                <a:spcPts val="5087"/>
              </a:lnSpc>
              <a:buFont typeface="Arial"/>
              <a:buChar char="•"/>
            </a:pP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Easy to update &amp; improve</a:t>
            </a:r>
          </a:p>
          <a:p>
            <a:pPr algn="just" marL="784577" indent="-392288" lvl="1">
              <a:lnSpc>
                <a:spcPts val="5087"/>
              </a:lnSpc>
              <a:buFont typeface="Arial"/>
              <a:buChar char="•"/>
            </a:pP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 testing &amp; delivery</a:t>
            </a:r>
          </a:p>
          <a:p>
            <a:pPr algn="just" marL="784577" indent="-392288" lvl="1">
              <a:lnSpc>
                <a:spcPts val="5087"/>
              </a:lnSpc>
              <a:buFont typeface="Arial"/>
              <a:buChar char="•"/>
            </a:pPr>
            <a:r>
              <a:rPr lang="en-US" sz="3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Best for complex system</a:t>
            </a:r>
          </a:p>
          <a:p>
            <a:pPr algn="just">
              <a:lnSpc>
                <a:spcPts val="511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3531326" y="748766"/>
            <a:ext cx="10465632" cy="1899215"/>
            <a:chOff x="0" y="0"/>
            <a:chExt cx="13954177" cy="253228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300"/>
              <a:ext cx="13954177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 Model Selection (Agile – Scrum)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93871"/>
              <a:ext cx="10145426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63566" y="9482401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6237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34028" y="925830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917" y="1760988"/>
            <a:ext cx="5136952" cy="6925108"/>
          </a:xfrm>
          <a:custGeom>
            <a:avLst/>
            <a:gdLst/>
            <a:ahLst/>
            <a:cxnLst/>
            <a:rect r="r" b="b" t="t" l="l"/>
            <a:pathLst>
              <a:path h="6925108" w="5136952">
                <a:moveTo>
                  <a:pt x="0" y="0"/>
                </a:moveTo>
                <a:lnTo>
                  <a:pt x="5136952" y="0"/>
                </a:lnTo>
                <a:lnTo>
                  <a:pt x="5136952" y="6925108"/>
                </a:lnTo>
                <a:lnTo>
                  <a:pt x="0" y="6925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33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29719" y="1760988"/>
            <a:ext cx="4258319" cy="7091920"/>
          </a:xfrm>
          <a:custGeom>
            <a:avLst/>
            <a:gdLst/>
            <a:ahLst/>
            <a:cxnLst/>
            <a:rect r="r" b="b" t="t" l="l"/>
            <a:pathLst>
              <a:path h="7091920" w="4258319">
                <a:moveTo>
                  <a:pt x="0" y="0"/>
                </a:moveTo>
                <a:lnTo>
                  <a:pt x="4258319" y="0"/>
                </a:lnTo>
                <a:lnTo>
                  <a:pt x="4258319" y="7091920"/>
                </a:lnTo>
                <a:lnTo>
                  <a:pt x="0" y="709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209" r="0" b="-886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73888" y="1760988"/>
            <a:ext cx="4698248" cy="7091920"/>
          </a:xfrm>
          <a:custGeom>
            <a:avLst/>
            <a:gdLst/>
            <a:ahLst/>
            <a:cxnLst/>
            <a:rect r="r" b="b" t="t" l="l"/>
            <a:pathLst>
              <a:path h="7091920" w="4698248">
                <a:moveTo>
                  <a:pt x="0" y="0"/>
                </a:moveTo>
                <a:lnTo>
                  <a:pt x="4698248" y="0"/>
                </a:lnTo>
                <a:lnTo>
                  <a:pt x="4698248" y="7091920"/>
                </a:lnTo>
                <a:lnTo>
                  <a:pt x="0" y="709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7743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80108" y="308636"/>
            <a:ext cx="8284694" cy="1903475"/>
            <a:chOff x="0" y="0"/>
            <a:chExt cx="11046258" cy="253796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4300"/>
              <a:ext cx="11046258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Use Case Diagram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093871"/>
              <a:ext cx="10145426" cy="444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286188" y="9482226"/>
            <a:ext cx="232797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Plant UML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38322" y="8805283"/>
            <a:ext cx="55959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Part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8349" y="8947840"/>
            <a:ext cx="57130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Part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33789" y="8925560"/>
            <a:ext cx="57844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Part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35643" y="471303"/>
            <a:ext cx="515054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u="sng">
                <a:solidFill>
                  <a:srgbClr val="436AE1"/>
                </a:solidFill>
                <a:latin typeface="Alatsi"/>
                <a:ea typeface="Alatsi"/>
                <a:cs typeface="Alatsi"/>
                <a:sym typeface="Alatsi"/>
                <a:hlinkClick r:id="rId5" tooltip="https://drive.google.com/file/d/1CxhA67QIxZU8sNOJGCbGOPA_a9N0x1uD/view?usp=sharing"/>
              </a:rPr>
              <a:t>Click Here</a:t>
            </a:r>
            <a:r>
              <a:rPr lang="en-US" sz="3600" u="sng">
                <a:solidFill>
                  <a:srgbClr val="436AE1"/>
                </a:solidFill>
                <a:latin typeface="Alatsi"/>
                <a:ea typeface="Alatsi"/>
                <a:cs typeface="Alatsi"/>
                <a:sym typeface="Alatsi"/>
                <a:hlinkClick r:id="rId6" tooltip="https://drive.google.com/file/d/1CxhA67QIxZU8sNOJGCbGOPA_a9N0x1uD/view?usp=sharing"/>
              </a:rPr>
              <a:t> </a:t>
            </a:r>
            <a:r>
              <a:rPr lang="en-US" sz="3600" u="sng">
                <a:solidFill>
                  <a:srgbClr val="436AE1"/>
                </a:solidFill>
                <a:latin typeface="Alatsi"/>
                <a:ea typeface="Alatsi"/>
                <a:cs typeface="Alatsi"/>
                <a:sym typeface="Alatsi"/>
                <a:hlinkClick r:id="rId7" tooltip="https://drive.google.com/file/d/1CxhA67QIxZU8sNOJGCbGOPA_a9N0x1uD/view?usp=sharing"/>
              </a:rPr>
              <a:t>For Better View </a:t>
            </a: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9082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2232" y="8937441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014392" y="606844"/>
            <a:ext cx="10041702" cy="2308288"/>
            <a:chOff x="0" y="0"/>
            <a:chExt cx="13388936" cy="307771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4300"/>
              <a:ext cx="13388936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Use Case Description 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633621"/>
              <a:ext cx="10145426" cy="444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95604" y="3002280"/>
            <a:ext cx="6963696" cy="462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77"/>
              </a:lnSpc>
              <a:spcBef>
                <a:spcPct val="0"/>
              </a:spcBef>
            </a:pPr>
            <a:r>
              <a:rPr lang="en-US" b="true" sz="634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View Animal Profile</a:t>
            </a:r>
          </a:p>
          <a:p>
            <a:pPr algn="just" marL="1083866" indent="-541933" lvl="1">
              <a:lnSpc>
                <a:spcPts val="70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02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Actor: </a:t>
            </a:r>
            <a:r>
              <a:rPr lang="en-US" sz="502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General User</a:t>
            </a:r>
          </a:p>
          <a:p>
            <a:pPr algn="just" marL="1083866" indent="-541933" lvl="1">
              <a:lnSpc>
                <a:spcPts val="70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02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Type: </a:t>
            </a:r>
            <a:r>
              <a:rPr lang="en-US" sz="502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Secondary and Essential</a:t>
            </a:r>
          </a:p>
          <a:p>
            <a:pPr algn="just">
              <a:lnSpc>
                <a:spcPts val="702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9904" y="3021330"/>
            <a:ext cx="5877671" cy="484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Register Acc</a:t>
            </a:r>
            <a:r>
              <a:rPr lang="en-US" b="true" sz="52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ount</a:t>
            </a:r>
          </a:p>
          <a:p>
            <a:pPr algn="just" marL="969994" indent="-484997" lvl="1">
              <a:lnSpc>
                <a:spcPts val="62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492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Actor: </a:t>
            </a:r>
            <a:r>
              <a:rPr lang="en-US" sz="4492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General User, Volunteer, Vet, NGO</a:t>
            </a:r>
          </a:p>
          <a:p>
            <a:pPr algn="just" marL="969994" indent="-484997" lvl="1">
              <a:lnSpc>
                <a:spcPts val="62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492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Type: </a:t>
            </a:r>
            <a:r>
              <a:rPr lang="en-US" sz="4492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Primary and Essential</a:t>
            </a:r>
          </a:p>
          <a:p>
            <a:pPr algn="just">
              <a:lnSpc>
                <a:spcPts val="6132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9182100" y="2932948"/>
            <a:ext cx="0" cy="4421105"/>
          </a:xfrm>
          <a:prstGeom prst="line">
            <a:avLst/>
          </a:prstGeom>
          <a:ln cap="flat" w="76200">
            <a:solidFill>
              <a:srgbClr val="246FC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19751" y="8409113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4271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67254" y="396238"/>
            <a:ext cx="5552497" cy="9508882"/>
          </a:xfrm>
          <a:custGeom>
            <a:avLst/>
            <a:gdLst/>
            <a:ahLst/>
            <a:cxnLst/>
            <a:rect r="r" b="b" t="t" l="l"/>
            <a:pathLst>
              <a:path h="9508882" w="5552497">
                <a:moveTo>
                  <a:pt x="0" y="0"/>
                </a:moveTo>
                <a:lnTo>
                  <a:pt x="5552497" y="0"/>
                </a:lnTo>
                <a:lnTo>
                  <a:pt x="5552497" y="9508882"/>
                </a:lnTo>
                <a:lnTo>
                  <a:pt x="0" y="950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2599" y="3636478"/>
            <a:ext cx="8284694" cy="2052065"/>
            <a:chOff x="0" y="0"/>
            <a:chExt cx="11046258" cy="27360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11046258" cy="12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29"/>
                </a:lnSpc>
              </a:pPr>
              <a:r>
                <a:rPr lang="en-US" sz="69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Activity Diagram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1025"/>
              <a:ext cx="10145426" cy="545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51734" y="4913208"/>
            <a:ext cx="7065555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-Help us to understand how system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86188" y="9482226"/>
            <a:ext cx="232797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Plant UML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2232" y="869467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7828" y="-181313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33430" y="325429"/>
            <a:ext cx="8425870" cy="8932871"/>
          </a:xfrm>
          <a:custGeom>
            <a:avLst/>
            <a:gdLst/>
            <a:ahLst/>
            <a:cxnLst/>
            <a:rect r="r" b="b" t="t" l="l"/>
            <a:pathLst>
              <a:path h="8932871" w="8425870">
                <a:moveTo>
                  <a:pt x="0" y="0"/>
                </a:moveTo>
                <a:lnTo>
                  <a:pt x="8425870" y="0"/>
                </a:lnTo>
                <a:lnTo>
                  <a:pt x="8425870" y="8932871"/>
                </a:lnTo>
                <a:lnTo>
                  <a:pt x="0" y="8932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718377" y="3766681"/>
            <a:ext cx="10528338" cy="3699535"/>
            <a:chOff x="0" y="0"/>
            <a:chExt cx="14037784" cy="493271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14037784" cy="1338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28"/>
                </a:lnSpc>
              </a:pPr>
              <a:r>
                <a:rPr lang="en-US" sz="72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Sequence Diagram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91207" y="3374042"/>
              <a:ext cx="10255507" cy="1558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0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925560"/>
            <a:ext cx="232797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Plant UML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4370" y="5360927"/>
            <a:ext cx="5982845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Different parts of the system → communicates with each others 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2232" y="8847655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2643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95610" y="158971"/>
            <a:ext cx="8224473" cy="9969059"/>
          </a:xfrm>
          <a:custGeom>
            <a:avLst/>
            <a:gdLst/>
            <a:ahLst/>
            <a:cxnLst/>
            <a:rect r="r" b="b" t="t" l="l"/>
            <a:pathLst>
              <a:path h="9969059" w="8224473">
                <a:moveTo>
                  <a:pt x="0" y="0"/>
                </a:moveTo>
                <a:lnTo>
                  <a:pt x="8224474" y="0"/>
                </a:lnTo>
                <a:lnTo>
                  <a:pt x="8224474" y="9969058"/>
                </a:lnTo>
                <a:lnTo>
                  <a:pt x="0" y="9969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90854" y="3572325"/>
            <a:ext cx="8284694" cy="2796175"/>
            <a:chOff x="0" y="0"/>
            <a:chExt cx="11046258" cy="37282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11046258" cy="1338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27"/>
                </a:lnSpc>
              </a:pPr>
              <a:r>
                <a:rPr lang="en-US" sz="7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Class Diagram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69562"/>
              <a:ext cx="10145426" cy="1558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0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925560"/>
            <a:ext cx="232797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Plant UML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425" y="4903738"/>
            <a:ext cx="8138121" cy="167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-Structure of the system 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-Understand how the system is built internally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447319" y="6734810"/>
            <a:ext cx="604744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u="sng">
                <a:solidFill>
                  <a:srgbClr val="436AE1"/>
                </a:solidFill>
                <a:latin typeface="Alatsi"/>
                <a:ea typeface="Alatsi"/>
                <a:cs typeface="Alatsi"/>
                <a:sym typeface="Alatsi"/>
                <a:hlinkClick r:id="rId5" tooltip="https://drive.google.com/file/d/1aXO8uUUBWWgY5o62qrTc8N4aq1bktxuJ/view?usp=sharing"/>
              </a:rPr>
              <a:t>Click Here For Better View 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6237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9155" y="896578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973047"/>
            <a:ext cx="7900040" cy="5289626"/>
          </a:xfrm>
          <a:custGeom>
            <a:avLst/>
            <a:gdLst/>
            <a:ahLst/>
            <a:cxnLst/>
            <a:rect r="r" b="b" t="t" l="l"/>
            <a:pathLst>
              <a:path h="5289626" w="7900040">
                <a:moveTo>
                  <a:pt x="0" y="0"/>
                </a:moveTo>
                <a:lnTo>
                  <a:pt x="7900040" y="0"/>
                </a:lnTo>
                <a:lnTo>
                  <a:pt x="7900040" y="5289626"/>
                </a:lnTo>
                <a:lnTo>
                  <a:pt x="0" y="5289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40" t="0" r="-1198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67376" y="2973047"/>
            <a:ext cx="8335594" cy="5289626"/>
          </a:xfrm>
          <a:custGeom>
            <a:avLst/>
            <a:gdLst/>
            <a:ahLst/>
            <a:cxnLst/>
            <a:rect r="r" b="b" t="t" l="l"/>
            <a:pathLst>
              <a:path h="5289626" w="8335594">
                <a:moveTo>
                  <a:pt x="0" y="0"/>
                </a:moveTo>
                <a:lnTo>
                  <a:pt x="8335594" y="0"/>
                </a:lnTo>
                <a:lnTo>
                  <a:pt x="8335594" y="5289626"/>
                </a:lnTo>
                <a:lnTo>
                  <a:pt x="0" y="5289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124" t="0" r="-11245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05063" y="309597"/>
            <a:ext cx="16077875" cy="2308288"/>
            <a:chOff x="0" y="0"/>
            <a:chExt cx="21437166" cy="307771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300"/>
              <a:ext cx="21437166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GUI (Graphical User Interface)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33621"/>
              <a:ext cx="10145426" cy="444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9102" y="9624784"/>
            <a:ext cx="2778919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Google Gemini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5250376" y="2367895"/>
            <a:ext cx="16077875" cy="2093878"/>
            <a:chOff x="0" y="0"/>
            <a:chExt cx="21437166" cy="279183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21437166" cy="421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5"/>
                </a:lnSpc>
              </a:pPr>
              <a:r>
                <a:rPr lang="en-US" sz="23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Opening Page of Website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54190" y="2288155"/>
              <a:ext cx="10145426" cy="503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99356" y="2367895"/>
            <a:ext cx="16077875" cy="2093878"/>
            <a:chOff x="0" y="0"/>
            <a:chExt cx="21437166" cy="279183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57150"/>
              <a:ext cx="21437166" cy="421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5"/>
                </a:lnSpc>
              </a:pPr>
              <a:r>
                <a:rPr lang="en-US" sz="23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Donation page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54190" y="2288155"/>
              <a:ext cx="10145426" cy="503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8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6237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9155" y="896578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3737" y="2959447"/>
            <a:ext cx="9680012" cy="4368105"/>
          </a:xfrm>
          <a:custGeom>
            <a:avLst/>
            <a:gdLst/>
            <a:ahLst/>
            <a:cxnLst/>
            <a:rect r="r" b="b" t="t" l="l"/>
            <a:pathLst>
              <a:path h="4368105" w="9680012">
                <a:moveTo>
                  <a:pt x="0" y="0"/>
                </a:moveTo>
                <a:lnTo>
                  <a:pt x="9680012" y="0"/>
                </a:lnTo>
                <a:lnTo>
                  <a:pt x="9680012" y="4368106"/>
                </a:lnTo>
                <a:lnTo>
                  <a:pt x="0" y="436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86429" y="1914156"/>
            <a:ext cx="4681349" cy="6458687"/>
          </a:xfrm>
          <a:custGeom>
            <a:avLst/>
            <a:gdLst/>
            <a:ahLst/>
            <a:cxnLst/>
            <a:rect r="r" b="b" t="t" l="l"/>
            <a:pathLst>
              <a:path h="6458687" w="4681349">
                <a:moveTo>
                  <a:pt x="0" y="0"/>
                </a:moveTo>
                <a:lnTo>
                  <a:pt x="4681348" y="0"/>
                </a:lnTo>
                <a:lnTo>
                  <a:pt x="4681348" y="6458688"/>
                </a:lnTo>
                <a:lnTo>
                  <a:pt x="0" y="6458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139" t="0" r="-6923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05063" y="309597"/>
            <a:ext cx="16077875" cy="2308288"/>
            <a:chOff x="0" y="0"/>
            <a:chExt cx="21437166" cy="307771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300"/>
              <a:ext cx="21437166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GUI (Graphical User Interface)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33621"/>
              <a:ext cx="10145426" cy="444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63737" y="9482226"/>
            <a:ext cx="2778919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Google Gemini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7287" y="1914156"/>
            <a:ext cx="16077875" cy="2093878"/>
            <a:chOff x="0" y="0"/>
            <a:chExt cx="21437166" cy="279183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21437166" cy="421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5"/>
                </a:lnSpc>
              </a:pPr>
              <a:r>
                <a:rPr lang="en-US" sz="23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Map  &amp;  Smart Match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54190" y="2288155"/>
              <a:ext cx="10145426" cy="503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8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5706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8736" y="896578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8699" y="2987030"/>
            <a:ext cx="7843096" cy="4774747"/>
          </a:xfrm>
          <a:custGeom>
            <a:avLst/>
            <a:gdLst/>
            <a:ahLst/>
            <a:cxnLst/>
            <a:rect r="r" b="b" t="t" l="l"/>
            <a:pathLst>
              <a:path h="4774747" w="7843096">
                <a:moveTo>
                  <a:pt x="0" y="0"/>
                </a:moveTo>
                <a:lnTo>
                  <a:pt x="7843096" y="0"/>
                </a:lnTo>
                <a:lnTo>
                  <a:pt x="7843096" y="4774748"/>
                </a:lnTo>
                <a:lnTo>
                  <a:pt x="0" y="4774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81" t="0" r="-807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76867" y="2987030"/>
            <a:ext cx="8712998" cy="4774747"/>
          </a:xfrm>
          <a:custGeom>
            <a:avLst/>
            <a:gdLst/>
            <a:ahLst/>
            <a:cxnLst/>
            <a:rect r="r" b="b" t="t" l="l"/>
            <a:pathLst>
              <a:path h="4774747" w="8712998">
                <a:moveTo>
                  <a:pt x="0" y="0"/>
                </a:moveTo>
                <a:lnTo>
                  <a:pt x="8712998" y="0"/>
                </a:lnTo>
                <a:lnTo>
                  <a:pt x="8712998" y="4774748"/>
                </a:lnTo>
                <a:lnTo>
                  <a:pt x="0" y="4774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05063" y="544230"/>
            <a:ext cx="16077875" cy="2308288"/>
            <a:chOff x="0" y="0"/>
            <a:chExt cx="21437166" cy="307771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300"/>
              <a:ext cx="21437166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GUI (Graphical User Interface)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33621"/>
              <a:ext cx="10145426" cy="444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08736" y="8775597"/>
            <a:ext cx="2778919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Google Gemini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37929" y="2110536"/>
            <a:ext cx="16077875" cy="2093878"/>
            <a:chOff x="0" y="0"/>
            <a:chExt cx="21437166" cy="279183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21437166" cy="421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5"/>
                </a:lnSpc>
              </a:pPr>
              <a:r>
                <a:rPr lang="en-US" sz="23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Support Animal Care  &amp;  Veterinary Services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54190" y="2288155"/>
              <a:ext cx="10145426" cy="503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8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96301" y="832103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43225"/>
            <a:ext cx="7101938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🔹 Functional Requirements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User auth &amp; roles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</a:t>
            </a: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escue &amp; SOS system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Smart map view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Adoption &amp; vet services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Community &amp; donations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300045" y="9095739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445990" y="2943225"/>
            <a:ext cx="7101938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🔹 Non-Functional Requirements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Fas</a:t>
            </a: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 performance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Easy to use (respon</a:t>
            </a: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sive)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Secure system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</a:t>
            </a: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eliable &amp; always available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Scalable &amp; maintainable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531326" y="748766"/>
            <a:ext cx="10465632" cy="1899215"/>
            <a:chOff x="0" y="0"/>
            <a:chExt cx="13954177" cy="25322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4300"/>
              <a:ext cx="13954177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Responsibilities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93871"/>
              <a:ext cx="10145426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9182100" y="2932948"/>
            <a:ext cx="0" cy="4421105"/>
          </a:xfrm>
          <a:prstGeom prst="line">
            <a:avLst/>
          </a:prstGeom>
          <a:ln cap="flat" w="76200">
            <a:solidFill>
              <a:srgbClr val="246FC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867283" y="80194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30334" y="849187"/>
            <a:ext cx="13696260" cy="1899215"/>
            <a:chOff x="0" y="0"/>
            <a:chExt cx="18261680" cy="253228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4300"/>
              <a:ext cx="18261680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Hardware and Software Requirements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93871"/>
              <a:ext cx="13277209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18243" y="2691251"/>
            <a:ext cx="6595387" cy="357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7"/>
              </a:lnSpc>
            </a:pP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 Hard</a:t>
            </a: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ware R</a:t>
            </a: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equirements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i5 / Ryz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 5, 8GB RAM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SSD storage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table internet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Cloud server (AWS/Vercel)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Scalable resources</a:t>
            </a:r>
          </a:p>
          <a:p>
            <a:pPr algn="just">
              <a:lnSpc>
                <a:spcPts val="3419"/>
              </a:lnSpc>
            </a:pPr>
          </a:p>
          <a:p>
            <a:pPr algn="just">
              <a:lnSpc>
                <a:spcPts val="319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794138" y="2691349"/>
            <a:ext cx="6595387" cy="402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7"/>
              </a:lnSpc>
            </a:pP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 Soft</a:t>
            </a: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ware R</a:t>
            </a: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equirements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Next.js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+ React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e.js + Express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stgreSQL / MongoDB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Git, V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Cod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e, Postman</a:t>
            </a:r>
          </a:p>
          <a:p>
            <a:pPr algn="just" marL="562516" indent="-281258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Cloud services &amp; APIs</a:t>
            </a:r>
          </a:p>
          <a:p>
            <a:pPr algn="just">
              <a:lnSpc>
                <a:spcPts val="3647"/>
              </a:lnSpc>
            </a:pPr>
          </a:p>
          <a:p>
            <a:pPr algn="just">
              <a:lnSpc>
                <a:spcPts val="3419"/>
              </a:lnSpc>
            </a:pPr>
          </a:p>
          <a:p>
            <a:pPr algn="just">
              <a:lnSpc>
                <a:spcPts val="3191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H="true" flipV="true">
            <a:off x="9105900" y="2294427"/>
            <a:ext cx="38100" cy="3344229"/>
          </a:xfrm>
          <a:prstGeom prst="line">
            <a:avLst/>
          </a:prstGeom>
          <a:ln cap="flat" w="76200">
            <a:solidFill>
              <a:srgbClr val="246F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45913" y="6173884"/>
            <a:ext cx="3170023" cy="3170023"/>
          </a:xfrm>
          <a:custGeom>
            <a:avLst/>
            <a:gdLst/>
            <a:ahLst/>
            <a:cxnLst/>
            <a:rect r="r" b="b" t="t" l="l"/>
            <a:pathLst>
              <a:path h="3170023" w="3170023">
                <a:moveTo>
                  <a:pt x="0" y="0"/>
                </a:moveTo>
                <a:lnTo>
                  <a:pt x="3170023" y="0"/>
                </a:lnTo>
                <a:lnTo>
                  <a:pt x="3170023" y="3170023"/>
                </a:lnTo>
                <a:lnTo>
                  <a:pt x="0" y="317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67283" y="6020738"/>
            <a:ext cx="3634621" cy="3237562"/>
          </a:xfrm>
          <a:custGeom>
            <a:avLst/>
            <a:gdLst/>
            <a:ahLst/>
            <a:cxnLst/>
            <a:rect r="r" b="b" t="t" l="l"/>
            <a:pathLst>
              <a:path h="3237562" w="3634621">
                <a:moveTo>
                  <a:pt x="0" y="0"/>
                </a:moveTo>
                <a:lnTo>
                  <a:pt x="3634621" y="0"/>
                </a:lnTo>
                <a:lnTo>
                  <a:pt x="3634621" y="3237562"/>
                </a:lnTo>
                <a:lnTo>
                  <a:pt x="0" y="3237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91242" y="6342020"/>
            <a:ext cx="5029317" cy="2833751"/>
          </a:xfrm>
          <a:custGeom>
            <a:avLst/>
            <a:gdLst/>
            <a:ahLst/>
            <a:cxnLst/>
            <a:rect r="r" b="b" t="t" l="l"/>
            <a:pathLst>
              <a:path h="2833751" w="5029317">
                <a:moveTo>
                  <a:pt x="0" y="0"/>
                </a:moveTo>
                <a:lnTo>
                  <a:pt x="5029316" y="0"/>
                </a:lnTo>
                <a:lnTo>
                  <a:pt x="5029316" y="2833751"/>
                </a:lnTo>
                <a:lnTo>
                  <a:pt x="0" y="28337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5477" r="0" b="-3200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1924" y="9831077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4261" y="2851438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5" y="0"/>
                </a:lnTo>
                <a:lnTo>
                  <a:pt x="7960895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11184" y="898322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447654" y="501596"/>
            <a:ext cx="11070939" cy="196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Project Planning &amp; Es</a:t>
            </a:r>
            <a:r>
              <a:rPr lang="en-US" sz="56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tima</a:t>
            </a:r>
            <a:r>
              <a:rPr lang="en-US" sz="56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tion:</a:t>
            </a:r>
          </a:p>
          <a:p>
            <a:pPr algn="just">
              <a:lnSpc>
                <a:spcPts val="78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80650" y="1779217"/>
            <a:ext cx="9333155" cy="376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7"/>
              </a:lnSpc>
            </a:pPr>
            <a:r>
              <a:rPr lang="en-US" b="true" sz="271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71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🔹</a:t>
            </a:r>
            <a:r>
              <a:rPr lang="en-US" b="true" sz="271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Project Planning Overview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13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modules, mul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ti-role sys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tem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AI + real-time features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Full-stack archi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tecture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Medium–large complexity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Responsive web platform</a:t>
            </a:r>
          </a:p>
          <a:p>
            <a:pPr algn="just">
              <a:lnSpc>
                <a:spcPts val="3527"/>
              </a:lnSpc>
            </a:pPr>
          </a:p>
          <a:p>
            <a:pPr algn="just">
              <a:lnSpc>
                <a:spcPts val="380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80650" y="5086350"/>
            <a:ext cx="9333155" cy="332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7"/>
              </a:lnSpc>
            </a:pPr>
            <a:r>
              <a:rPr lang="en-US" b="true" sz="271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🔹</a:t>
            </a:r>
            <a:r>
              <a:rPr lang="en-US" b="true" sz="271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Effort Estimation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Total: 50–70 days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High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modules: 7–10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days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edium modules: 4–6 days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Low mo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dules: 2–3 days</a:t>
            </a:r>
          </a:p>
          <a:p>
            <a:pPr algn="just" marL="587113" indent="-293556" lvl="1">
              <a:lnSpc>
                <a:spcPts val="3807"/>
              </a:lnSpc>
              <a:buFont typeface="Arial"/>
              <a:buChar char="•"/>
            </a:pP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Bala</a:t>
            </a:r>
            <a:r>
              <a:rPr lang="en-US" sz="2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nced workload</a:t>
            </a:r>
          </a:p>
          <a:p>
            <a:pPr algn="just">
              <a:lnSpc>
                <a:spcPts val="3807"/>
              </a:lnSpc>
            </a:pPr>
          </a:p>
        </p:txBody>
      </p:sp>
    </p:spTree>
  </p:cSld>
  <p:clrMapOvr>
    <a:masterClrMapping/>
  </p:clrMapOvr>
  <p:transition spd="slow">
    <p:wipe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94617" y="2693069"/>
            <a:ext cx="7364683" cy="4900862"/>
          </a:xfrm>
          <a:custGeom>
            <a:avLst/>
            <a:gdLst/>
            <a:ahLst/>
            <a:cxnLst/>
            <a:rect r="r" b="b" t="t" l="l"/>
            <a:pathLst>
              <a:path h="4900862" w="7364683">
                <a:moveTo>
                  <a:pt x="0" y="0"/>
                </a:moveTo>
                <a:lnTo>
                  <a:pt x="7364683" y="0"/>
                </a:lnTo>
                <a:lnTo>
                  <a:pt x="7364683" y="4900862"/>
                </a:lnTo>
                <a:lnTo>
                  <a:pt x="0" y="4900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11184" y="898322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839163" y="268501"/>
            <a:ext cx="11187432" cy="196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Security &amp; E</a:t>
            </a:r>
            <a:r>
              <a:rPr lang="en-US" sz="56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thical Issues:</a:t>
            </a:r>
          </a:p>
          <a:p>
            <a:pPr algn="just">
              <a:lnSpc>
                <a:spcPts val="78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06945" y="1650748"/>
            <a:ext cx="8237055" cy="876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</a:t>
            </a: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🔹</a:t>
            </a:r>
            <a:r>
              <a:rPr lang="en-US" b="true" sz="29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E</a:t>
            </a:r>
            <a:r>
              <a:rPr lang="en-US" b="true" sz="29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thical Issues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User d</a:t>
            </a: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ata privacy &amp; consent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AI used responsibly (no misleading)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Fair access (Bangla + simple UI)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Prevent animal abuse/misuse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Verified users (NGO, vet)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b="true" sz="29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🔹 Security Issues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JWT auth &amp; role control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Password hashing (bcrypt)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Secure APIs &amp; validation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Encrypted data (HTTPS)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Safe payments (no data stored)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3500"/>
              </a:lnSpc>
            </a:pPr>
          </a:p>
        </p:txBody>
      </p:sp>
    </p:spTree>
  </p:cSld>
  <p:clrMapOvr>
    <a:masterClrMapping/>
  </p:clrMapOvr>
  <p:transition spd="slow">
    <p:wipe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96301" y="832103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09143" y="1851770"/>
            <a:ext cx="6820767" cy="6449984"/>
          </a:xfrm>
          <a:custGeom>
            <a:avLst/>
            <a:gdLst/>
            <a:ahLst/>
            <a:cxnLst/>
            <a:rect r="r" b="b" t="t" l="l"/>
            <a:pathLst>
              <a:path h="6449984" w="6820767">
                <a:moveTo>
                  <a:pt x="0" y="0"/>
                </a:moveTo>
                <a:lnTo>
                  <a:pt x="6820767" y="0"/>
                </a:lnTo>
                <a:lnTo>
                  <a:pt x="6820767" y="6449984"/>
                </a:lnTo>
                <a:lnTo>
                  <a:pt x="0" y="6449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210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44149" y="8893810"/>
            <a:ext cx="10465632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 retrieved from Google </a:t>
            </a:r>
          </a:p>
          <a:p>
            <a:pPr algn="ctr">
              <a:lnSpc>
                <a:spcPts val="2659"/>
              </a:lnSpc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39911" y="1631698"/>
            <a:ext cx="8237055" cy="947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b="true" sz="3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🔹 Limit</a:t>
            </a:r>
            <a:r>
              <a:rPr lang="en-US" b="true" sz="3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3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tions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Mock AI</a:t>
            </a: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(no real ML)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Partial backend integration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No real payment system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No offline/SMS support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Map &amp; real-time limitations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b="true" sz="3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🔹 Challenges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Scalability &amp; performance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Complex UI (many modules)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Multi-role management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Tech integration issues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Time constraints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558438" y="409892"/>
            <a:ext cx="11212633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Li</a:t>
            </a:r>
            <a:r>
              <a:rPr lang="en-US" sz="6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mitations and Challenges </a:t>
            </a:r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373635" y="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471" y="2283554"/>
            <a:ext cx="11216242" cy="6173313"/>
          </a:xfrm>
          <a:custGeom>
            <a:avLst/>
            <a:gdLst/>
            <a:ahLst/>
            <a:cxnLst/>
            <a:rect r="r" b="b" t="t" l="l"/>
            <a:pathLst>
              <a:path h="6173313" w="11216242">
                <a:moveTo>
                  <a:pt x="0" y="0"/>
                </a:moveTo>
                <a:lnTo>
                  <a:pt x="11216242" y="0"/>
                </a:lnTo>
                <a:lnTo>
                  <a:pt x="11216242" y="6173313"/>
                </a:lnTo>
                <a:lnTo>
                  <a:pt x="0" y="6173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5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911184" y="332239"/>
            <a:ext cx="10465632" cy="2145545"/>
            <a:chOff x="0" y="0"/>
            <a:chExt cx="13954177" cy="28607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3350"/>
              <a:ext cx="13954177" cy="1361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25"/>
                </a:lnSpc>
              </a:pPr>
              <a:r>
                <a:rPr lang="en-US" sz="73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Workflow Example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68749"/>
              <a:ext cx="10145426" cy="591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286710" y="9210675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806629" y="4232969"/>
            <a:ext cx="4452671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“It illustrates interactions between user</a:t>
            </a:r>
            <a:r>
              <a:rPr lang="en-US" sz="26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,</a:t>
            </a:r>
            <a:r>
              <a:rPr lang="en-US" sz="26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sy</a:t>
            </a:r>
            <a:r>
              <a:rPr lang="en-US" sz="26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stem, volunteer, and vet with decision points and real-time updates.”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  <p:transition spd="fast">
    <p:wipe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96301" y="832103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9527" y="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321632" y="4040777"/>
            <a:ext cx="10465632" cy="3481685"/>
            <a:chOff x="0" y="0"/>
            <a:chExt cx="13954177" cy="464224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09550"/>
              <a:ext cx="13954177" cy="2178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680"/>
                </a:lnSpc>
              </a:pPr>
              <a:r>
                <a:rPr lang="en-US" sz="11798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Conclusion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095100"/>
              <a:ext cx="10145426" cy="1547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42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70664" y="3758882"/>
            <a:ext cx="9007927" cy="270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PawSphere is a scalable animal welfare platform with rescue, adoption, vet, and donation systems.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It demonstrates real-world problem solving using modern web technologies and provides a strong foundation for future AI-based enhancements.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-1664099" y="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2941110" y="832103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28730" y="3927232"/>
            <a:ext cx="12112646" cy="186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8"/>
              </a:lnSpc>
            </a:pPr>
            <a:r>
              <a:rPr lang="en-US" sz="108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QUESTION?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25</a:t>
            </a:r>
          </a:p>
        </p:txBody>
      </p:sp>
    </p:spTree>
  </p:cSld>
  <p:clrMapOvr>
    <a:masterClrMapping/>
  </p:clrMapOvr>
  <p:transition spd="fast">
    <p:wipe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27880" y="3006195"/>
            <a:ext cx="12112646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ACKNOWLEDGEMENT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63325" y="4684539"/>
            <a:ext cx="9007927" cy="173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W</a:t>
            </a:r>
            <a:r>
              <a:rPr lang="en-US" sz="32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 thank </a:t>
            </a:r>
            <a:r>
              <a:rPr lang="en-US" b="true" sz="32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Dr. Abdus Sattar</a:t>
            </a:r>
            <a:r>
              <a:rPr lang="en-US" sz="32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for his guidance and support. We also appreciate our team and institution for their cooperation.</a:t>
            </a:r>
          </a:p>
        </p:txBody>
      </p: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28730" y="3927232"/>
            <a:ext cx="12112646" cy="186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8"/>
              </a:lnSpc>
            </a:pPr>
            <a:r>
              <a:rPr lang="en-US" sz="108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27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DAHGv-lw4kc</dc:identifier>
  <dcterms:modified xsi:type="dcterms:W3CDTF">2011-08-01T06:04:30Z</dcterms:modified>
  <cp:revision>1</cp:revision>
  <dc:title>PawSphere: An Welfare Platform For Rescue, Adoption and Care Management  _ 65-A_ Group : 02</dc:title>
</cp:coreProperties>
</file>